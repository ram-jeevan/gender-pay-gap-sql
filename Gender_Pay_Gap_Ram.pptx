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6459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Gender Pay Gap Analysis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85800" y="2743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A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2021-2022 Reporting Period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3474720"/>
            <a:ext cx="1371600" cy="45720"/>
          </a:xfrm>
          <a:prstGeom prst="rect">
            <a:avLst/>
          </a:prstGeom>
          <a:solidFill>
            <a:srgbClr val="00A4A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Assembly Data Analytics Bootcamp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key insights reveal persistent gender pay inequality across UK companies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" cy="365760"/>
          </a:xfrm>
          <a:prstGeom prst="ellipse">
            <a:avLst/>
          </a:prstGeom>
          <a:solidFill>
            <a:srgbClr val="003D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UK-wide pay gap averages 12.3%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earn £0.88 for every £1 men earn across 10,174 companies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65760" cy="365760"/>
          </a:xfrm>
          <a:prstGeom prst="ellipse">
            <a:avLst/>
          </a:prstGeom>
          <a:solidFill>
            <a:srgbClr val="003D5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103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Geography matters: London gap is 14% higher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(13.6%) vs Outside London (11.9%) — financial sector concentration drives disparity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365760" cy="365760"/>
          </a:xfrm>
          <a:prstGeom prst="ellipse">
            <a:avLst/>
          </a:prstGeom>
          <a:solidFill>
            <a:srgbClr val="003D5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companies perform better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20,000+ employee firms show 9.7% gap vs 12.8% for mid-sized (250-499)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Recommendation: Target banking/finance sectors and mid-sized companies for policy intervention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UK Government Gender Pay Gap Service, 2021-2022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71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A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85800" y="2103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the Dataset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3108960"/>
            <a:ext cx="1828800" cy="45720"/>
          </a:xfrm>
          <a:prstGeom prst="rect">
            <a:avLst/>
          </a:prstGeom>
          <a:solidFill>
            <a:srgbClr val="00A4A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3291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the data scope and quality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covers 10,174 UK companies with mandatory pay gap reporting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10,174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Companies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2021-2022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Period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361 (3.5%)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Submissions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3,700 (36%)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URLs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5486400" cy="320040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3716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Decision: Using Median over Mean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1920240"/>
            <a:ext cx="51206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DiffMedianHourlyPercent?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compensation creates outliers that skew mean calculations. Median provides a more representative picture of typical employee experience.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exclusions: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Bonus columns excluded (4,019 missing values)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Companies &lt;250 employees report voluntarily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UK Government Gender Pay Gap Service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71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A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85800" y="2103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UK-Wide Pay Gap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3108960"/>
            <a:ext cx="1828800" cy="45720"/>
          </a:xfrm>
          <a:prstGeom prst="rect">
            <a:avLst/>
          </a:prstGeom>
          <a:solidFill>
            <a:srgbClr val="00A4A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3291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Quantifying the national gender pay disparity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UK gender pay gap stands at 12.3% in favour of men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12.3%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median hourly pay gap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0" y="1371600"/>
            <a:ext cx="4114800" cy="301752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463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92024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 £1 earned by men, women earn approximately £0.88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Caveats to consider: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Does not account for role differences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Voluntary reporting bias for &lt;250 employees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 year snapshot (2021-2022)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Agency workers excluded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UK Government Gender Pay Gap Service, 2021-2022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sector dominates list of largest pay gaps among major employers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solidFill>
            <a:srgbClr val="003D5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89120" y="1188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Gap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0" y="1188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459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Lloyds Bank PLC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0" y="16459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40.9%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0" y="16459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8229600" cy="347472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9933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Westminster Bank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19933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34.2%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0" y="19933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340864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34086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Lloyds Banking Group PLC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0" y="234086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34.2%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234086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688336"/>
            <a:ext cx="8229600" cy="347472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68833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 D Wetherspoon PLC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0" y="268833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29.5%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0" y="268833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035808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0358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HBOS PLC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89120" y="30358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27.8%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0" y="30358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383280"/>
            <a:ext cx="8229600" cy="347472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3832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Barclays Execution Services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89120" y="33832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27.1%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0" y="33832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730752"/>
            <a:ext cx="822960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7307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Retail Limited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89120" y="373075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26.9%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43600" y="37307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251960"/>
            <a:ext cx="73152" cy="411480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251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of top 7 largest pay gaps are in financial services sector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UK Government Gender Pay Gap Service, companies with 20,000+ employees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71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A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85800" y="2103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Differences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3108960"/>
            <a:ext cx="1828800" cy="45720"/>
          </a:xfrm>
          <a:prstGeom prst="rect">
            <a:avLst/>
          </a:prstGeom>
          <a:solidFill>
            <a:srgbClr val="00A4A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3291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versus the rest of the UK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London's pay gap exceeds national average by 1.7 percentage points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0" y="1554480"/>
            <a:ext cx="4985309" cy="365760"/>
          </a:xfrm>
          <a:prstGeom prst="rect">
            <a:avLst/>
          </a:prstGeom>
          <a:solidFill>
            <a:srgbClr val="003D5C"/>
          </a:solidFill>
          <a:ln/>
        </p:spPr>
      </p:sp>
      <p:sp>
        <p:nvSpPr>
          <p:cNvPr id="5" name="Text 3"/>
          <p:cNvSpPr/>
          <p:nvPr/>
        </p:nvSpPr>
        <p:spPr>
          <a:xfrm>
            <a:off x="7362749" y="14630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13.63%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 London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2286000"/>
            <a:ext cx="4367174" cy="365760"/>
          </a:xfrm>
          <a:prstGeom prst="rect">
            <a:avLst/>
          </a:prstGeom>
          <a:solidFill>
            <a:srgbClr val="00A4A6"/>
          </a:solidFill>
          <a:ln/>
        </p:spPr>
      </p:sp>
      <p:sp>
        <p:nvSpPr>
          <p:cNvPr id="8" name="Text 6"/>
          <p:cNvSpPr/>
          <p:nvPr/>
        </p:nvSpPr>
        <p:spPr>
          <a:xfrm>
            <a:off x="6744614" y="21945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11.94%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Birmingham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0" y="3017520"/>
            <a:ext cx="3953866" cy="365760"/>
          </a:xfrm>
          <a:prstGeom prst="rect">
            <a:avLst/>
          </a:prstGeom>
          <a:solidFill>
            <a:srgbClr val="00A4A6"/>
          </a:solidFill>
          <a:ln/>
        </p:spPr>
      </p:sp>
      <p:sp>
        <p:nvSpPr>
          <p:cNvPr id="11" name="Text 9"/>
          <p:cNvSpPr/>
          <p:nvPr/>
        </p:nvSpPr>
        <p:spPr>
          <a:xfrm>
            <a:off x="6331306" y="29260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10.81%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London has higher pay gaps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Concentration of financial services headquarters with male-dominated leadership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Higher proportion of tech and legal sectors with significant C-suite gender imbalances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Greater salary variance amplifies median differences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UK Government Gender Pay Gap Service, address-based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71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A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85800" y="2103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Differences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3108960"/>
            <a:ext cx="1828800" cy="45720"/>
          </a:xfrm>
          <a:prstGeom prst="rect">
            <a:avLst/>
          </a:prstGeom>
          <a:solidFill>
            <a:srgbClr val="00A4A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3291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sectors using SIC codes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 sector pay gap is 2.6x the national average at 31.7%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201168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31.7%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 Code: 64191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201168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737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0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27.0%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4937760" y="2743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 Codes: 85100-85410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8229600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657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Average: 12.3%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73152" cy="457200"/>
          </a:xfrm>
          <a:prstGeom prst="rect">
            <a:avLst/>
          </a:prstGeom>
          <a:solidFill>
            <a:srgbClr val="F2652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114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sectors significantly exceed the national average, suggesting systemic issues in leadership pipelines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UK Government Gender Pay Gap Service, SIC code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gap decreases as company size increases — largest firms perform best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250-499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651760" y="1371600"/>
            <a:ext cx="4590941" cy="320040"/>
          </a:xfrm>
          <a:prstGeom prst="rect">
            <a:avLst/>
          </a:prstGeom>
          <a:solidFill>
            <a:srgbClr val="003D5C"/>
          </a:solidFill>
          <a:ln/>
        </p:spPr>
      </p:sp>
      <p:sp>
        <p:nvSpPr>
          <p:cNvPr id="5" name="Text 3"/>
          <p:cNvSpPr/>
          <p:nvPr/>
        </p:nvSpPr>
        <p:spPr>
          <a:xfrm>
            <a:off x="7334141" y="1280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12.78%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500-999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51760" y="1874520"/>
            <a:ext cx="4544241" cy="320040"/>
          </a:xfrm>
          <a:prstGeom prst="rect">
            <a:avLst/>
          </a:prstGeom>
          <a:solidFill>
            <a:srgbClr val="003D5C"/>
          </a:solidFill>
          <a:ln/>
        </p:spPr>
      </p:sp>
      <p:sp>
        <p:nvSpPr>
          <p:cNvPr id="8" name="Text 6"/>
          <p:cNvSpPr/>
          <p:nvPr/>
        </p:nvSpPr>
        <p:spPr>
          <a:xfrm>
            <a:off x="7287441" y="1783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12.65%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1,000-4,999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51760" y="2377440"/>
            <a:ext cx="4152682" cy="320040"/>
          </a:xfrm>
          <a:prstGeom prst="rect">
            <a:avLst/>
          </a:prstGeom>
          <a:solidFill>
            <a:srgbClr val="003D5C"/>
          </a:solidFill>
          <a:ln/>
        </p:spPr>
      </p:sp>
      <p:sp>
        <p:nvSpPr>
          <p:cNvPr id="11" name="Text 9"/>
          <p:cNvSpPr/>
          <p:nvPr/>
        </p:nvSpPr>
        <p:spPr>
          <a:xfrm>
            <a:off x="6895882" y="2286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11.56%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788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&lt;250 (voluntary)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51760" y="2880360"/>
            <a:ext cx="4077244" cy="320040"/>
          </a:xfrm>
          <a:prstGeom prst="rect">
            <a:avLst/>
          </a:prstGeom>
          <a:solidFill>
            <a:srgbClr val="003D5C"/>
          </a:solidFill>
          <a:ln/>
        </p:spPr>
      </p:sp>
      <p:sp>
        <p:nvSpPr>
          <p:cNvPr id="14" name="Text 12"/>
          <p:cNvSpPr/>
          <p:nvPr/>
        </p:nvSpPr>
        <p:spPr>
          <a:xfrm>
            <a:off x="6820444" y="2788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11.35%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5,000-19,999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51760" y="3383280"/>
            <a:ext cx="3682093" cy="320040"/>
          </a:xfrm>
          <a:prstGeom prst="rect">
            <a:avLst/>
          </a:prstGeom>
          <a:solidFill>
            <a:srgbClr val="003D5C"/>
          </a:solidFill>
          <a:ln/>
        </p:spPr>
      </p:sp>
      <p:sp>
        <p:nvSpPr>
          <p:cNvPr id="17" name="Text 15"/>
          <p:cNvSpPr/>
          <p:nvPr/>
        </p:nvSpPr>
        <p:spPr>
          <a:xfrm>
            <a:off x="6425293" y="3291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10.25%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20,000+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51760" y="3886200"/>
            <a:ext cx="3495294" cy="320040"/>
          </a:xfrm>
          <a:prstGeom prst="rect">
            <a:avLst/>
          </a:prstGeom>
          <a:solidFill>
            <a:srgbClr val="7AC143"/>
          </a:solidFill>
          <a:ln/>
        </p:spPr>
      </p:sp>
      <p:sp>
        <p:nvSpPr>
          <p:cNvPr id="20" name="Text 18"/>
          <p:cNvSpPr/>
          <p:nvPr/>
        </p:nvSpPr>
        <p:spPr>
          <a:xfrm>
            <a:off x="6238494" y="3794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9.73%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114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Caveat: Companies &lt;250 employees report voluntarily — likely selection bias toward better performers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UK Government Gender Pay Gap Service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716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A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85800" y="21031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3108960"/>
            <a:ext cx="1828800" cy="45720"/>
          </a:xfrm>
          <a:prstGeom prst="rect">
            <a:avLst/>
          </a:prstGeom>
          <a:solidFill>
            <a:srgbClr val="00A4A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3291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5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interventions and data improvements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policy priorities will accelerate pay gap reduction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114800" cy="137160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73152" cy="1371600"/>
          </a:xfrm>
          <a:prstGeom prst="rect">
            <a:avLst/>
          </a:prstGeom>
          <a:solidFill>
            <a:srgbClr val="00A4A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Strengthen Compliance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stricter penalties for late reporting; 361 companies submitted late in 2021-22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280160"/>
            <a:ext cx="4114800" cy="137160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0" y="1280160"/>
            <a:ext cx="73152" cy="1371600"/>
          </a:xfrm>
          <a:prstGeom prst="rect">
            <a:avLst/>
          </a:prstGeom>
          <a:solidFill>
            <a:srgbClr val="00A4A6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371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Sector-Specific Intervention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82880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banking and finance sectors where gaps exceed 30% with mandatory action plans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4114800" cy="137160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834640"/>
            <a:ext cx="73152" cy="1371600"/>
          </a:xfrm>
          <a:prstGeom prst="rect">
            <a:avLst/>
          </a:prstGeom>
          <a:solidFill>
            <a:srgbClr val="00A4A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26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Coverage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mandatory reporting threshold from 250 to 100 employees to capture more of the workforce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2834640"/>
            <a:ext cx="4114800" cy="137160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0" y="2834640"/>
            <a:ext cx="73152" cy="1371600"/>
          </a:xfrm>
          <a:prstGeom prst="rect">
            <a:avLst/>
          </a:prstGeom>
          <a:solidFill>
            <a:srgbClr val="00A4A6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926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Data Granularity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33832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role-level data to identify same-job pay discrimination vs. representation gaps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Analysis recommendations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 improvements will enable more actionable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Limitations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Company-level aggregation masks department differences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role or seniority breakdown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Voluntary reporting for &lt;250 employees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Agency workers excluded from payroll data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Improvements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173736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Include companies with 100+ headcount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 agency workers to reporting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Collect individual-level anonymized data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Break down by role category and tenure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Extreme pay gaps can arise from gender distribution alone (male/female dominated sectors). Individual-level data is essential to distinguish representation gaps from true pay discrimination.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Analysis recommendations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645920"/>
            <a:ext cx="1371600" cy="45720"/>
          </a:xfrm>
          <a:prstGeom prst="rect">
            <a:avLst/>
          </a:prstGeom>
          <a:solidFill>
            <a:srgbClr val="00A4A6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2148840"/>
            <a:ext cx="137160" cy="137160"/>
          </a:xfrm>
          <a:prstGeom prst="rect">
            <a:avLst/>
          </a:prstGeom>
          <a:solidFill>
            <a:srgbClr val="00A4A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average gender pay gap is 12.3% — women earn £0.88 per £1 men earn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697480"/>
            <a:ext cx="137160" cy="137160"/>
          </a:xfrm>
          <a:prstGeom prst="rect">
            <a:avLst/>
          </a:prstGeom>
          <a:solidFill>
            <a:srgbClr val="00A4A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 sector shows highest gaps (31.7% in banking)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3246120"/>
            <a:ext cx="137160" cy="137160"/>
          </a:xfrm>
          <a:prstGeom prst="rect">
            <a:avLst/>
          </a:prstGeom>
          <a:solidFill>
            <a:srgbClr val="00A4A6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exceeds national average; geographic targeting is warranted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3794760"/>
            <a:ext cx="137160" cy="137160"/>
          </a:xfrm>
          <a:prstGeom prst="rect">
            <a:avLst/>
          </a:prstGeom>
          <a:solidFill>
            <a:srgbClr val="00A4A6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companies perform better — policies should focus on mid-sized firms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4343400"/>
            <a:ext cx="137160" cy="137160"/>
          </a:xfrm>
          <a:prstGeom prst="rect">
            <a:avLst/>
          </a:prstGeom>
          <a:solidFill>
            <a:srgbClr val="00A4A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improvements needed to distinguish representation from discrimination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A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UK Gender Pay Gap Analysis 2021-2022</dc:title>
  <dc:subject>PptxGenJS Presentation</dc:subject>
  <dc:creator>Ram</dc:creator>
  <cp:lastModifiedBy>Ram</cp:lastModifiedBy>
  <cp:revision>1</cp:revision>
  <dcterms:created xsi:type="dcterms:W3CDTF">2026-02-05T08:52:39Z</dcterms:created>
  <dcterms:modified xsi:type="dcterms:W3CDTF">2026-02-05T08:52:39Z</dcterms:modified>
</cp:coreProperties>
</file>